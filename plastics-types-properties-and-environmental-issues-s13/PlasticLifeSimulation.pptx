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18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4114800"/>
            <a:ext cx="548640" cy="548640"/>
          </a:xfrm>
          <a:prstGeom prst="ellipse">
            <a:avLst/>
          </a:prstGeom>
          <a:solidFill>
            <a:srgbClr val="43A047">
              <a:alpha val="40000"/>
            </a:srgbClr>
          </a:solidFill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114800"/>
            <a:ext cx="548640" cy="548640"/>
          </a:xfrm>
          <a:prstGeom prst="ellipse">
            <a:avLst/>
          </a:prstGeom>
          <a:solidFill>
            <a:srgbClr val="43A047">
              <a:alpha val="40000"/>
            </a:srgbClr>
          </a:solidFill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43A047">
              <a:alpha val="40000"/>
            </a:srgbClr>
          </a:solidFill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114800"/>
            <a:ext cx="548640" cy="548640"/>
          </a:xfrm>
          <a:prstGeom prst="ellipse">
            <a:avLst/>
          </a:prstGeom>
          <a:solidFill>
            <a:srgbClr val="43A047">
              <a:alpha val="40000"/>
            </a:srgbClr>
          </a:solidFill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4114800"/>
            <a:ext cx="548640" cy="548640"/>
          </a:xfrm>
          <a:prstGeom prst="ellipse">
            <a:avLst/>
          </a:prstGeom>
          <a:solidFill>
            <a:srgbClr val="43A047">
              <a:alpha val="40000"/>
            </a:srgbClr>
          </a:solidFill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43A047">
              <a:alpha val="50000"/>
            </a:srgbClr>
          </a:solidFill>
          <a:ln w="12700">
            <a:solidFill>
              <a:srgbClr val="43A047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731520"/>
            <a:ext cx="731520" cy="731520"/>
          </a:xfrm>
          <a:prstGeom prst="ellipse">
            <a:avLst/>
          </a:prstGeom>
          <a:solidFill>
            <a:srgbClr val="00BFA5">
              <a:alpha val="40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05840"/>
            <a:ext cx="914400" cy="9144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548640" cy="54864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1031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772400" y="182880"/>
            <a:ext cx="1645920" cy="1645920"/>
          </a:xfrm>
          <a:prstGeom prst="ellipse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>
                <a:alpha val="2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29600" y="3474720"/>
            <a:ext cx="1097280" cy="1097280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657600" y="6400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 Life Simulation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3657600" y="1463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Storyboard Presentation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3657600" y="2057400"/>
            <a:ext cx="502920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0" y="21945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Thinking Approach to Plastic Waste Awareness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749040" y="3008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749040" y="3191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749040" y="3648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49040" y="3831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00800" y="3008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400800" y="3191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00800" y="3648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400800" y="3831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56616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Design Thinking Class  |  Plastic Awareness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28600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188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380M+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Tons of plastic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yearly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2606040"/>
            <a:ext cx="2286000" cy="1371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2697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7432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never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83464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waste has become a critical environmental issue. Most students and citizens are unaware of plastic categories or proper recycling methods. Incorrect disposal causes severe pollution.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34640" y="21945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34640" y="219456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3317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Lack of Awareness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71800" y="2743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cannot identify plastic types by resin codes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760720" y="21945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60720" y="219456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3317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Improper Recycling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897880" y="2743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Plastics end up in wrong bins, harming recycling rates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834640" y="35661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834640" y="356616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370332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7472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Pollution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97180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Mismanaged plastic degrades ecosystems and oceans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760720" y="35661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760720" y="356616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370332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for Education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89788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educational tools are scarce and outdated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" y="73152"/>
            <a:ext cx="640080" cy="73152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73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EMPATHIZE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4630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463040"/>
            <a:ext cx="54864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6276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Students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60120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 for plastic education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4320" y="23774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377440"/>
            <a:ext cx="54864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54203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Young Learners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10–18 seeking interactive content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74320" y="32918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3291840"/>
            <a:ext cx="54864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45643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Citizens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60120" y="3675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 lacking recycling knowledge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2976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297680" y="1463040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89120" y="1627632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3891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0060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identify plastic types by codes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97680" y="2267712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89120" y="2432304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389120" y="2432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800600" y="2377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recycling symbols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297680" y="3072384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89120" y="3236976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389120" y="3236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800600" y="3182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education feels boring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297680" y="3877056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389120" y="4041648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389120" y="4041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800600" y="39867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environmental awareness overall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the user is the foundation of every great design."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40080" cy="731520"/>
          </a:xfrm>
          <a:prstGeom prst="ellipse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115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MIGHT WE...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38988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"Create an engaging and interactive way for students to learn plastic types and proper recycling methods?"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017520"/>
            <a:ext cx="1920240" cy="50292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0632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for all age groups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60320" y="30175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60320" y="3017520"/>
            <a:ext cx="1920240" cy="50292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0632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5176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65176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learning experience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63440" y="30175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17520"/>
            <a:ext cx="1920240" cy="50292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0632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488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75488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simulation approach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766560" y="30175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766560" y="3017520"/>
            <a:ext cx="1920240" cy="50292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306324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5800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85800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lasting environmental habits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40080" cy="7315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IDEATE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CONSIDERED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417320"/>
            <a:ext cx="384048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813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Posters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" y="2039112"/>
            <a:ext cx="384048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1031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130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Sessions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74320" y="2660904"/>
            <a:ext cx="384048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2491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7523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Text-Heavy Content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74320" y="3282696"/>
            <a:ext cx="38404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46704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3741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Simulation ✓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INTERACTIVE SIMULATION?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572000" y="1417320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572000" y="141732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1490472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6636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learning experience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0" y="2039112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572000" y="2039112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2112264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6636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engagement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572000" y="2660904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4572000" y="2660904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2734056"/>
            <a:ext cx="365760" cy="36576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66360" y="2770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understanding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4572000" y="3282696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4572000" y="3282696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3355848"/>
            <a:ext cx="365760" cy="3657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6636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learning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274320" y="40050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JOURNEY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274320" y="4370832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74320" y="437083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Plastic</a:t>
            </a:r>
            <a:endParaRPr lang="en-US" sz="9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0512" y="4544568"/>
            <a:ext cx="182880" cy="22860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2011680" y="4370832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2011680" y="437083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Uses</a:t>
            </a:r>
            <a:endParaRPr lang="en-US" sz="9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4544568"/>
            <a:ext cx="182880" cy="228600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3749040" y="4370832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3749040" y="437083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Recyclability</a:t>
            </a:r>
            <a:endParaRPr lang="en-US" sz="9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5232" y="4544568"/>
            <a:ext cx="182880" cy="228600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5486400" y="4370832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Text 34"/>
          <p:cNvSpPr/>
          <p:nvPr/>
        </p:nvSpPr>
        <p:spPr>
          <a:xfrm>
            <a:off x="5486400" y="437083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Challenge</a:t>
            </a:r>
            <a:endParaRPr lang="en-US" sz="9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2592" y="4544568"/>
            <a:ext cx="182880" cy="228600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7223760" y="4370832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7223760" y="437083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Better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280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STORYBOARD OVERVIEW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868680"/>
            <a:ext cx="8686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914400"/>
            <a:ext cx="8595360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68172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storyboard maps the user journey through the simulation — from introduction to the final plastic sorting challenge.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4008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 –  Interface Screens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01168" y="10058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05840"/>
            <a:ext cx="274320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97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9808" y="1097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0896" y="1508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page shows all 6 plastic types (PET, HDPE, PVC, LDPE, PP, PS) and a START button to begin the simulation.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72968" y="10058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1005840"/>
            <a:ext cx="27432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1097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21608" y="1097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 (Type 1)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82696" y="1508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uses (water bottles, soda bottles, food containers), properties (clear, strong, lightweight, recyclable) and HIGH recyclability.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44768" y="10058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44768" y="1005840"/>
            <a:ext cx="2743200" cy="43891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1097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93408" y="1097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HDPE (Type 2)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54496" y="1508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uses (milk jugs, detergent &amp; shampoo bottles), properties, and HIGH recyclability rating with Next button.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01168" y="29260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01168" y="2926080"/>
            <a:ext cx="274320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9808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PVC (Type 3)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10896" y="34290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uses (pipes, credit cards, vinyl products) and properties (rigid/flexible, durable, chemical resistant). LOW recyclability.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172968" y="29260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172968" y="2926080"/>
            <a:ext cx="27432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46120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721608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LDPE (Type 4)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282696" y="34290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uses (plastic bags, wraps, squeeze bottles), properties (flexible, lightweight, water resistant). MEDIUM recyclability.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144768" y="29260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144768" y="2926080"/>
            <a:ext cx="2743200" cy="43891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693408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 &amp; PS (5 &amp; 6)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54496" y="34290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screen: PP (yogurt cups, straws, bottle caps — tough, recyclable) and PS (foam cups, takeout containers — lightweight, insulating). LOW recyclability.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01168" y="4754880"/>
            <a:ext cx="8732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1168" y="475488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FINAL CHALLENGE: Drag and sort plastic items into correct recycling bins (1-6) to earn points and complete the simulation!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64008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716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Learning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24128" y="15087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 where users explore each plastic type through engaging screens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709160" y="105156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1051560"/>
            <a:ext cx="6400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3716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58968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 Identification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58968" y="15087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guides with resin codes, properties, and real-world product examples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74320" y="228600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320" y="2286000"/>
            <a:ext cx="640080" cy="10972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6060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Recyclability Awareness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24128" y="27432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recyclability meter for quick and intuitive comparison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709160" y="228600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2286000"/>
            <a:ext cx="640080" cy="10972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6060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58968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Challenge-Based Learning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58968" y="27432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sorting game reinforces knowledge through active participation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274320" y="352044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74320" y="3520440"/>
            <a:ext cx="640080" cy="10972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84048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2412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User-Friendly Interface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024128" y="39776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clean UI designed for school students and young learners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4709160" y="352044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709160" y="3520440"/>
            <a:ext cx="64008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384048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45896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 Gamification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458968" y="39776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badges and achievements motivate learners to complete all modules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640080" cy="73152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73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FEEDBACK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41732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5087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and navigate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07568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16712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and highly engaging gameplay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74320" y="273405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82549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2852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improve memory retention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274320" y="339242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483864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awareness about recycling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 IMPROVEMENTS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754880" y="141732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754880" y="1417320"/>
            <a:ext cx="502920" cy="530352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50876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21808" y="1463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System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321808" y="1691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points and leaderboard for motivation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754880" y="207568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754880" y="2075688"/>
            <a:ext cx="502920" cy="530352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167128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21808" y="2121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 Effects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321808" y="2350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feedback for correct/incorrect sorting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4754880" y="2734056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754880" y="2734056"/>
            <a:ext cx="502920" cy="530352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825496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321808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Categories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5321808" y="30083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plastic types 7+ (other/mixed)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4754880" y="3392424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4754880" y="3392424"/>
            <a:ext cx="502920" cy="530352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483864"/>
            <a:ext cx="365760" cy="3657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321808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7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Mobile-Friendly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5321808" y="36667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for smartphones and tablets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F1F8F4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5720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USER RATING</a:t>
            </a:r>
            <a:endParaRPr lang="en-US" sz="9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553712"/>
            <a:ext cx="292608" cy="256032"/>
          </a:xfrm>
          <a:prstGeom prst="rect">
            <a:avLst/>
          </a:prstGeom>
        </p:spPr>
      </p:pic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553712"/>
            <a:ext cx="292608" cy="256032"/>
          </a:xfrm>
          <a:prstGeom prst="rect">
            <a:avLst/>
          </a:prstGeom>
        </p:spPr>
      </p:pic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4553712"/>
            <a:ext cx="292608" cy="256032"/>
          </a:xfrm>
          <a:prstGeom prst="rect">
            <a:avLst/>
          </a:prstGeom>
        </p:spPr>
      </p:pic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480" y="4553712"/>
            <a:ext cx="292608" cy="256032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965960" y="4480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/ 5  –  Based on pilot test with 25 students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making plastic education fun and accessible, this simulation creates lasting behavioral change and promotes environmental responsibility among the next generation.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783080"/>
            <a:ext cx="4206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38912" y="2103120"/>
            <a:ext cx="731520" cy="7315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21408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Increased Awareness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237744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accurately identify all 6 plastic types after completing the simulation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09160" y="1783080"/>
            <a:ext cx="4206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73752" y="2103120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121408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15000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Recycling Habits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715000" y="237744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disposal behavior improves up to 60% among tested users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3291840"/>
            <a:ext cx="4206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7B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38912" y="3611880"/>
            <a:ext cx="731520" cy="73152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30168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4747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Cleaner Environment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80160" y="388620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plastic contamination in recycling streams and landfills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09160" y="3291840"/>
            <a:ext cx="4206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73752" y="361188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630168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15000" y="34747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Education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715000" y="388620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Engaging, game-based learning that students actually want to repeat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THINKING PROCESS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1554480" cy="12801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087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Empathize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4320" y="2359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user pain points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1993392" y="1417320"/>
            <a:ext cx="1554480" cy="12801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32" y="15087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93392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993392" y="2359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the HMW statement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712464" y="1417320"/>
            <a:ext cx="1554480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150876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12464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Ideate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712464" y="2359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interactive simulation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5431536" y="1417320"/>
            <a:ext cx="1554480" cy="12801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150876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31536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431536" y="2359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storyboard &amp; screens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7150608" y="1417320"/>
            <a:ext cx="155448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248" y="150876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50608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150608" y="2359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user feedback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365760" y="2834640"/>
            <a:ext cx="8412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5760" y="2834640"/>
            <a:ext cx="73152" cy="1463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94360" y="29260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rigorously following the Design Thinking process, this Plastic Life Simulation project delivers a meaningful and engaging solution to a real-world environmental challenge. From empathizing with students struggling to identify plastic types, to building an interactive gamified simulation — every stage was driven by user needs.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48640" y="44805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A fun, educational simulation that builds plastic awareness and promotes responsible recycling habits.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2E7D32">
              <a:alpha val="60000"/>
            </a:srgbClr>
          </a:solidFill>
          <a:ln w="12700">
            <a:solidFill>
              <a:srgbClr val="2E7D3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00897B">
              <a:alpha val="5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00BFA5">
              <a:alpha val="40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840480"/>
            <a:ext cx="914400" cy="914400"/>
          </a:xfrm>
          <a:prstGeom prst="ellipse">
            <a:avLst/>
          </a:prstGeom>
          <a:solidFill>
            <a:srgbClr val="43A047">
              <a:alpha val="35000"/>
            </a:srgbClr>
          </a:solidFill>
          <a:ln w="12700">
            <a:solidFill>
              <a:srgbClr val="43A047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914400"/>
            <a:ext cx="5120640" cy="3108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00BFA5"/>
            </a:solidFill>
            <a:prstDash val="solid"/>
          </a:ln>
          <a:effectLst>
            <a:outerShdw blurRad="190500" dist="635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058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6459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011680" y="2560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333756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364992"/>
            <a:ext cx="411480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86200" y="333756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364992"/>
            <a:ext cx="411480" cy="4114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72000" y="333756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364992"/>
            <a:ext cx="411480" cy="4114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257800" y="333756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364992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Life Simulation  |  Design Thinking Class  |  Building a Greener Future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855</Words>
  <Application>Microsoft Office PowerPoint</Application>
  <PresentationFormat>On-screen Show (16:9)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Plastic Life Simulation</dc:title>
  <dc:subject>PptxGenJS Presentation</dc:subject>
  <dc:creator>Design Thinking Class</dc:creator>
  <cp:lastModifiedBy>Sai Sumit Panigrahi</cp:lastModifiedBy>
  <cp:revision>2</cp:revision>
  <dcterms:created xsi:type="dcterms:W3CDTF">2026-06-02T11:56:00Z</dcterms:created>
  <dcterms:modified xsi:type="dcterms:W3CDTF">2026-06-02T12:08:15Z</dcterms:modified>
</cp:coreProperties>
</file>